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81" r:id="rId3"/>
    <p:sldId id="261" r:id="rId4"/>
    <p:sldId id="262" r:id="rId5"/>
    <p:sldId id="283" r:id="rId6"/>
    <p:sldId id="267" r:id="rId7"/>
    <p:sldId id="278" r:id="rId8"/>
    <p:sldId id="266" r:id="rId9"/>
    <p:sldId id="280" r:id="rId10"/>
    <p:sldId id="264" r:id="rId11"/>
    <p:sldId id="274" r:id="rId12"/>
    <p:sldId id="275" r:id="rId13"/>
    <p:sldId id="273" r:id="rId14"/>
    <p:sldId id="277" r:id="rId15"/>
    <p:sldId id="27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55734" autoAdjust="0"/>
  </p:normalViewPr>
  <p:slideViewPr>
    <p:cSldViewPr snapToGrid="0">
      <p:cViewPr varScale="1">
        <p:scale>
          <a:sx n="159" d="100"/>
          <a:sy n="159" d="100"/>
        </p:scale>
        <p:origin x="25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3537F-41A4-44D3-A81D-861A4C19EC40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4EB91-12FC-40A0-B4BC-856C51E1E0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339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857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4557-A186-E2CA-BF80-71F3645B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3644706-004D-41DA-4412-BFB50817B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7EB12D-EEC0-1ACB-84F9-B17A4ABEE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704319-DF47-86FF-0537-347365B3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41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53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058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BB6A-5460-109F-129B-016D7610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BF2A25-4FF5-BA5E-B1E0-97E6698D8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62A9EA-0425-86F2-970D-908681793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054DBE-6D9A-7949-21A5-0A9FA2830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62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49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7304-E520-7FCD-E92E-8E9CD761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C8A586-0248-9E2A-62FD-A1BE6E385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3B3CCA-323B-2AF7-BA10-D41853DD8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1229B-5A3E-1599-CDDC-B21BF29AC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714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741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A4D7-77CE-FE6C-523D-9577E567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48A7EF-93D6-B2F4-B2E7-486B19FEB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9CF4885-9B03-2524-751A-02C376A1E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63BA67-99FB-6DE3-9F60-BBBCE44A7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01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903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801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95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655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8190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AF7F-26B3-D1AC-985F-A4C11A06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DF382F-4873-2C63-F2D5-7E2C03481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A32E587-DBB3-F83A-6969-4690C279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FF9A7F-8D78-F017-3A18-AC783D34B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4EB91-12FC-40A0-B4BC-856C51E1E0B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60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3DCC1-0EC4-A8F7-7C0F-8E70D5355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A818B4-878D-0BAD-80C3-5A80DAA7F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9CB1B8-0384-7B57-641B-E9FAFA2C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4F66-FEF4-4683-982D-115B5190014C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ACDA9-F646-AA54-6B86-5ACBC412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136162-9A8B-5822-9D70-04EC9B5C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226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57CE0-DECA-18A3-4418-54CE2323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22ECCD-3CE5-3AF5-438C-C0EA4F4F8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30CE24-C501-1EC4-B6D0-079C2B10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3018-51ED-4F92-A160-4EF3E12BA4F8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83C927-BDDF-C1DC-83C6-D9731517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D3ADFA-2BB6-A60C-2E41-68604FED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3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4E2D1-2347-42F7-010B-0EE5663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7D4803-5FF2-DEE9-E60F-B1A415F94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A1C696-054F-BCC4-E2D4-571B0E81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FE05-2FBC-4716-A5FC-6DF8F259F6C6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B51BE9-73A5-3C23-B43F-488EA1E1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7FEFE-8CE5-AF78-0589-F50857A6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1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3BEA5-6D2F-5782-4C45-A9D524AE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46643-D5D0-3552-7823-E1A94C31A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C58D88-A132-5794-AF55-C329D2872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28ACE0-7605-3906-CCE7-BC1FC1A2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D6495-DA60-47C3-94DD-E4BB568868EE}" type="datetime1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DC7147-4147-6F41-AF10-6A8BD034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878553-17A1-9CA2-567D-90290F6B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7FFBA-8BEF-FDF9-760F-2A783694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2E2CFA-5D7A-9F80-240C-542CB3576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D69F5F-ECF9-E253-C9D1-AF22C705C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206C55-EDA5-4C31-2929-C8E7889FC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5F4CFC-91CB-6B78-21A2-D649A4F0C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DCEB05-E4FC-B39B-12A6-E2445887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B478-450A-4EB5-B8C1-79DF0D03699F}" type="datetime1">
              <a:rPr lang="de-DE" smtClean="0"/>
              <a:t>15.01.2026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56BE03-46DA-C1EF-3F34-2A188EFB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8C4274E-D0A9-0F25-9557-A8A12404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2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20155-44A4-59C5-71D5-30F74E6B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7DAB69-ABC8-DF66-1C72-8B3E2056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4D8-8A24-430D-A693-5787E09C92EC}" type="datetime1">
              <a:rPr lang="de-DE" smtClean="0"/>
              <a:t>15.01.2026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8CE3F7-189E-2085-4E21-10212787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196DF4-2D62-D811-11D4-7D6310D1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613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2B1B7B-842A-E03F-BD25-002DE9E8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B54A-5082-435A-AD37-5BDE121CF140}" type="datetime1">
              <a:rPr lang="de-DE" smtClean="0"/>
              <a:t>15.01.2026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6E0DD1-A376-9AC0-A8AB-360DDC27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5A72A7-42B9-38C7-15FD-5E0096E1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88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02C42-AA8D-6491-F3E0-76614F65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BDD7E6-AE04-584C-5764-8A2145FE6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389B3C-085A-F109-F9ED-6231B540E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365F25-CA9F-173E-1BB1-17B283CA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FCFC9-22B1-4021-A55D-F0F59CFEE536}" type="datetime1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3DD55D-51AE-03D4-6B78-D9914FE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DF8504-E323-C80F-675B-D143582A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75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02A02-94AF-7E18-1109-8F4FAF35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483BE7-5547-42A2-5F29-1F2ABBAEC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5DEC9F-3211-9AAE-4E6D-EB502DFE9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C3BFBD-6C7D-C584-6552-F17D73AE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FDBD1-A5DD-4714-90D4-789307D8FF69}" type="datetime1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872007-FC48-A7C6-F0A6-DE5191BF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D9E174-C28B-518A-D56B-F9154FB0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87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DA3F3-D2BB-9C7B-D98F-596ADC75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16A625-2034-3768-C66A-E0162F775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EF5724-1060-44E6-421D-60369E85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6D8B-5C76-4B76-B310-72A845F37F42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6019FE-70CC-E6C6-8130-EFBD3D0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7A2E49-2EA8-E3F6-AB5E-ABF3562B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97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87DB24-7BFC-16B0-A082-56D257A0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151F9E-E32C-CF62-522A-573B72C3F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4636FE-CB69-4289-FABD-46B5BEBE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12C1D-372C-4EAB-BF14-1A564D44F27B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67217-B3AA-01F2-A218-824F3E00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78E78A-6CB4-C5E8-2214-C80F047C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26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411A62-7E45-F01B-9E77-6A32DDB3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B1313B-7F23-EE70-4F4B-95A13AA0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6A1DA-E661-37CA-CFC0-DD820EF1E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947B5-2A4E-4919-BCFD-3B0E7EE15D49}" type="datetime1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7D6347-E47A-668E-EC3A-0531AB33F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by Christin Gärtner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B7E1F-D162-E1D6-612A-0B972BC90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75475-1C90-4A4E-BB8B-417FC8121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37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pixabay.com/en/question-question-mark-response-101530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793EE-CB24-61DE-55D2-41261395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3217DC-4AF0-8FD5-C56B-A8804F3C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br>
              <a:rPr lang="de-DE" sz="2500" dirty="0"/>
            </a:br>
            <a:r>
              <a:rPr lang="de-DE" sz="1800" b="1" dirty="0">
                <a:latin typeface="+mn-lt"/>
              </a:rPr>
              <a:t>Analyse eines </a:t>
            </a:r>
            <a:r>
              <a:rPr lang="de-DE" sz="1800" b="1" dirty="0" err="1">
                <a:latin typeface="+mn-lt"/>
              </a:rPr>
              <a:t>airbnb</a:t>
            </a:r>
            <a:r>
              <a:rPr lang="de-DE" sz="1800" b="1" dirty="0">
                <a:latin typeface="+mn-lt"/>
              </a:rPr>
              <a:t> Datensatzes:</a:t>
            </a:r>
            <a:br>
              <a:rPr lang="de-DE" sz="1800" b="1" dirty="0">
                <a:latin typeface="+mn-lt"/>
              </a:rPr>
            </a:br>
            <a:br>
              <a:rPr lang="de-DE" sz="1800" b="1" dirty="0">
                <a:latin typeface="+mn-lt"/>
              </a:rPr>
            </a:br>
            <a:r>
              <a:rPr lang="de-DE" sz="1800" b="1" dirty="0">
                <a:latin typeface="+mn-lt"/>
              </a:rPr>
              <a:t>-tagesaktueller Angebotsreport-</a:t>
            </a:r>
            <a:br>
              <a:rPr lang="de-DE" sz="2800" b="1" dirty="0"/>
            </a:br>
            <a:endParaRPr lang="de-DE" sz="2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90ABC-9625-9030-DEA5-E49D701D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461" y="3128088"/>
            <a:ext cx="5552374" cy="220397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de-DE" sz="1800" b="1" dirty="0"/>
              <a:t>Fakten:</a:t>
            </a:r>
          </a:p>
          <a:p>
            <a:r>
              <a:rPr lang="de-DE" sz="1600" dirty="0" err="1"/>
              <a:t>csv</a:t>
            </a:r>
            <a:r>
              <a:rPr lang="de-DE" sz="1600" dirty="0"/>
              <a:t>-Datei, 51.707 Zeilen (1 Zeile = 1 Angebot), 22 Spalten </a:t>
            </a:r>
          </a:p>
          <a:p>
            <a:r>
              <a:rPr lang="de-DE" sz="1600" dirty="0"/>
              <a:t>10 europäischen Städte </a:t>
            </a:r>
          </a:p>
          <a:p>
            <a:r>
              <a:rPr lang="de-DE" sz="1600" dirty="0"/>
              <a:t>Angebote unterteilt in Wochenende und Werktags</a:t>
            </a:r>
          </a:p>
          <a:p>
            <a:r>
              <a:rPr lang="en-US" sz="1600" dirty="0" err="1"/>
              <a:t>dtypes</a:t>
            </a:r>
            <a:r>
              <a:rPr lang="en-US" sz="1600" dirty="0"/>
              <a:t>: bool(3), float64(12), int64(4), object(3)</a:t>
            </a:r>
          </a:p>
          <a:p>
            <a:r>
              <a:rPr lang="en-US" sz="1600" dirty="0" err="1"/>
              <a:t>keine</a:t>
            </a:r>
            <a:r>
              <a:rPr lang="en-US" sz="1600" dirty="0"/>
              <a:t> </a:t>
            </a:r>
            <a:r>
              <a:rPr lang="en-US" sz="1600" dirty="0" err="1"/>
              <a:t>fehlenden</a:t>
            </a:r>
            <a:r>
              <a:rPr lang="en-US" sz="1600" dirty="0"/>
              <a:t> </a:t>
            </a:r>
            <a:r>
              <a:rPr lang="en-US" sz="1600" dirty="0" err="1"/>
              <a:t>Werte</a:t>
            </a:r>
            <a:r>
              <a:rPr lang="en-US" sz="1600" dirty="0"/>
              <a:t>, </a:t>
            </a:r>
            <a:r>
              <a:rPr lang="en-US" sz="1600" dirty="0" err="1"/>
              <a:t>keine</a:t>
            </a:r>
            <a:r>
              <a:rPr lang="en-US" sz="1600" dirty="0"/>
              <a:t> </a:t>
            </a:r>
            <a:r>
              <a:rPr lang="en-US" sz="1600" dirty="0" err="1"/>
              <a:t>Dupilkate</a:t>
            </a:r>
            <a:r>
              <a:rPr lang="en-US" sz="1600" dirty="0"/>
              <a:t>, </a:t>
            </a:r>
            <a:r>
              <a:rPr lang="en-US" sz="1600" dirty="0" err="1"/>
              <a:t>RealSum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float</a:t>
            </a:r>
          </a:p>
          <a:p>
            <a:r>
              <a:rPr lang="en-US" sz="1600" dirty="0" err="1"/>
              <a:t>Personenanzahl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int., multi und biz </a:t>
            </a:r>
            <a:r>
              <a:rPr lang="en-US" sz="1600" dirty="0" err="1"/>
              <a:t>als</a:t>
            </a:r>
            <a:r>
              <a:rPr lang="en-US" sz="1600" dirty="0"/>
              <a:t> </a:t>
            </a:r>
            <a:r>
              <a:rPr lang="en-US" sz="1600" dirty="0" err="1"/>
              <a:t>boolschen</a:t>
            </a:r>
            <a:r>
              <a:rPr lang="en-US" sz="1600" dirty="0"/>
              <a:t> Wert, </a:t>
            </a:r>
            <a:r>
              <a:rPr lang="en-US" sz="1600" dirty="0" err="1"/>
              <a:t>Distanzen</a:t>
            </a:r>
            <a:r>
              <a:rPr lang="en-US" sz="1600" dirty="0"/>
              <a:t> und </a:t>
            </a:r>
            <a:r>
              <a:rPr lang="en-US" sz="1600" dirty="0" err="1"/>
              <a:t>Indexnormen</a:t>
            </a:r>
            <a:r>
              <a:rPr lang="en-US" sz="1600" dirty="0"/>
              <a:t> </a:t>
            </a:r>
            <a:r>
              <a:rPr lang="en-US" sz="1600" dirty="0" err="1"/>
              <a:t>gerundet</a:t>
            </a:r>
            <a:r>
              <a:rPr lang="en-US" sz="1600" dirty="0"/>
              <a:t>, </a:t>
            </a:r>
            <a:r>
              <a:rPr lang="en-US" sz="1600" dirty="0" err="1"/>
              <a:t>Städte</a:t>
            </a:r>
            <a:r>
              <a:rPr lang="en-US" sz="1600" dirty="0"/>
              <a:t> =</a:t>
            </a:r>
            <a:r>
              <a:rPr lang="en-US" sz="1600" dirty="0" err="1"/>
              <a:t>Eigennamen</a:t>
            </a:r>
            <a:endParaRPr lang="de-DE" sz="1600" dirty="0"/>
          </a:p>
          <a:p>
            <a:r>
              <a:rPr lang="de-DE" sz="1600" b="1" dirty="0"/>
              <a:t>Besonderheit: </a:t>
            </a:r>
            <a:r>
              <a:rPr lang="de-DE" sz="1600" dirty="0"/>
              <a:t>‚</a:t>
            </a:r>
            <a:r>
              <a:rPr lang="de-DE" sz="1600" dirty="0" err="1"/>
              <a:t>RealSum</a:t>
            </a:r>
            <a:r>
              <a:rPr lang="de-DE" sz="1600" dirty="0"/>
              <a:t>‘, „</a:t>
            </a:r>
            <a:r>
              <a:rPr lang="de-DE" sz="1600" dirty="0" err="1"/>
              <a:t>Außreiser</a:t>
            </a:r>
            <a:r>
              <a:rPr lang="de-DE" sz="1600" dirty="0"/>
              <a:t>“ </a:t>
            </a:r>
          </a:p>
          <a:p>
            <a:endParaRPr lang="de-DE" sz="180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F7DA075-D6EA-0299-C774-20297F7F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488C63-B0F1-4558-9CDA-D36940E45BF7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5E04BCD-E67B-B367-0FC8-E18D962F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11BE708-1FB8-2511-31FE-51AF6538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7E760D4-369B-41CF-9FF9-84B615D2A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871" y="678293"/>
            <a:ext cx="4206825" cy="502269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7E6DF1D-A02E-DDCB-52DD-60CBE0D6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707" y="1353663"/>
            <a:ext cx="4288832" cy="436714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AAAB174-1558-45E6-57D8-B0278D190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714" y="1645875"/>
            <a:ext cx="1442817" cy="308752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C87C477-EF68-276E-C18C-D08D90304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8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99E3A-4E06-9648-09F0-404FF860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E866D-0C61-EFC7-4FCD-93DAB5BCE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DC88A3-3A97-91F8-552E-36B345F9C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CFF130-0EEA-E88E-8B2C-5FBBF96BD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1B0231-CAD7-EBBE-EE9D-220D3D83F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F785192-1553-E78D-40D5-4EC95380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331CF-3C8C-B591-B40E-48E544A0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2500" dirty="0"/>
            </a:br>
            <a:r>
              <a:rPr lang="de-DE" sz="1800" b="1" dirty="0">
                <a:latin typeface="+mn-lt"/>
              </a:rPr>
              <a:t>Gliederung:</a:t>
            </a:r>
            <a:br>
              <a:rPr lang="de-DE" sz="2800" b="1" dirty="0"/>
            </a:br>
            <a:endParaRPr lang="de-DE" sz="2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3214AA-49A5-3F7A-A63F-6D6408BB7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43D264-AE34-EDCD-E47C-112A32EE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461" y="3128088"/>
            <a:ext cx="5552374" cy="2203976"/>
          </a:xfrm>
        </p:spPr>
        <p:txBody>
          <a:bodyPr anchor="ctr">
            <a:noAutofit/>
          </a:bodyPr>
          <a:lstStyle/>
          <a:p>
            <a:r>
              <a:rPr lang="de-DE" sz="1600" dirty="0"/>
              <a:t>Preisanalyse auf Angebotsbasis</a:t>
            </a:r>
          </a:p>
          <a:p>
            <a:r>
              <a:rPr lang="de-DE" sz="1600" dirty="0" err="1"/>
              <a:t>Objektanlyse</a:t>
            </a:r>
            <a:r>
              <a:rPr lang="de-DE" sz="1600" dirty="0"/>
              <a:t> auf Angebotsbasis</a:t>
            </a:r>
          </a:p>
          <a:p>
            <a:r>
              <a:rPr lang="de-DE" sz="1600" dirty="0"/>
              <a:t>Personenanalyse auf Angebotsbasis</a:t>
            </a:r>
          </a:p>
          <a:p>
            <a:r>
              <a:rPr lang="de-DE" sz="1600" dirty="0"/>
              <a:t>Analyse Reiseanlass</a:t>
            </a:r>
          </a:p>
          <a:p>
            <a:r>
              <a:rPr lang="de-DE" sz="1600" dirty="0"/>
              <a:t>Analyse Gastgeber</a:t>
            </a:r>
          </a:p>
          <a:p>
            <a:r>
              <a:rPr lang="de-DE" sz="1600" dirty="0"/>
              <a:t>Analyse Gäste</a:t>
            </a:r>
          </a:p>
          <a:p>
            <a:r>
              <a:rPr lang="de-DE" sz="1600" dirty="0" err="1"/>
              <a:t>Geographix</a:t>
            </a:r>
            <a:endParaRPr lang="de-DE" sz="1600" dirty="0"/>
          </a:p>
          <a:p>
            <a:r>
              <a:rPr lang="de-DE" sz="1600" dirty="0"/>
              <a:t>Analyse London</a:t>
            </a:r>
          </a:p>
          <a:p>
            <a:r>
              <a:rPr lang="de-DE" sz="1600" dirty="0"/>
              <a:t>Handlungsempfehlungen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endParaRPr lang="de-DE" sz="180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83FF3B5-F4D4-8CB8-166F-24C19ACB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488C63-B0F1-4558-9CDA-D36940E45BF7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69DFFB7-0BC8-C1F0-95D3-9DC7F81A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2C04FBE-CA42-8F1D-C00C-D1290C7A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7A636B0F-A46A-E439-8BCD-5F8682F5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1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C8E500-ADCA-670B-4069-D59892BD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de-DE" sz="1800" b="1" dirty="0"/>
              <a:t>PREISANALYSE AUF ANGEBOTSBASIS</a:t>
            </a:r>
            <a:br>
              <a:rPr lang="de-DE" sz="2500" dirty="0"/>
            </a:br>
            <a:endParaRPr lang="de-DE" sz="25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5E1375-B24D-8AF0-9FBA-8E21C9E3D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171450" indent="-171450"/>
            <a:r>
              <a:rPr lang="de-DE" sz="1400" b="1" dirty="0"/>
              <a:t>Angebotsmenge</a:t>
            </a:r>
            <a:r>
              <a:rPr lang="de-DE" sz="1400" dirty="0"/>
              <a:t>= London (mit mehr Privatzimmern), Rom(mehr Ap.), Paris(mehr Ap.) </a:t>
            </a:r>
          </a:p>
          <a:p>
            <a:pPr marL="171450" indent="-171450"/>
            <a:r>
              <a:rPr lang="de-DE" sz="1400" dirty="0"/>
              <a:t>Wenig </a:t>
            </a:r>
            <a:r>
              <a:rPr lang="de-DE" sz="1400" dirty="0" err="1"/>
              <a:t>shared</a:t>
            </a:r>
            <a:r>
              <a:rPr lang="de-DE" sz="1400" dirty="0"/>
              <a:t> </a:t>
            </a:r>
            <a:r>
              <a:rPr lang="de-DE" sz="1400" dirty="0" err="1"/>
              <a:t>rooms</a:t>
            </a:r>
            <a:r>
              <a:rPr lang="de-DE" sz="1400" dirty="0"/>
              <a:t>: Wien, Amsterdam, Rom </a:t>
            </a:r>
          </a:p>
          <a:p>
            <a:pPr marL="171450" indent="-171450"/>
            <a:r>
              <a:rPr lang="de-DE" sz="1400" dirty="0"/>
              <a:t>Wochenende teurer als werktags: Amsterdam, London, Barcelona, Berlin, Wien, Lissabon, Rom, Budapest </a:t>
            </a:r>
            <a:r>
              <a:rPr lang="de-DE" sz="1400" dirty="0">
                <a:sym typeface="Wingdings" panose="05000000000000000000" pitchFamily="2" charset="2"/>
              </a:rPr>
              <a:t> </a:t>
            </a:r>
            <a:r>
              <a:rPr lang="de-DE" sz="1400" b="1" dirty="0"/>
              <a:t>Wochenende billiger als werktags: Athen, Paris</a:t>
            </a:r>
          </a:p>
          <a:p>
            <a:pPr>
              <a:spcBef>
                <a:spcPts val="0"/>
              </a:spcBef>
              <a:defRPr/>
            </a:pPr>
            <a:endParaRPr lang="de-DE" sz="1400" b="1" dirty="0"/>
          </a:p>
          <a:p>
            <a:pPr>
              <a:spcBef>
                <a:spcPts val="0"/>
              </a:spcBef>
              <a:defRPr/>
            </a:pPr>
            <a:r>
              <a:rPr lang="de-DE" sz="1400" dirty="0"/>
              <a:t>umso näher am Stadtzentrum/Metro, desto höher der Preis</a:t>
            </a:r>
          </a:p>
          <a:p>
            <a:pPr>
              <a:spcBef>
                <a:spcPts val="0"/>
              </a:spcBef>
              <a:defRPr/>
            </a:pPr>
            <a:endParaRPr lang="de-DE" sz="1400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de-DE" sz="1400" dirty="0">
                <a:sym typeface="Wingdings" panose="05000000000000000000" pitchFamily="2" charset="2"/>
              </a:rPr>
              <a:t>	</a:t>
            </a:r>
            <a:endParaRPr lang="de-DE" sz="1400" dirty="0"/>
          </a:p>
          <a:p>
            <a:endParaRPr lang="de-DE" sz="140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3379AFB6-AFE0-3D00-7616-BFD9AE0A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488C63-B0F1-4558-9CDA-D36940E45BF7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EF485E-31FD-AE53-8238-F5BDF85E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4F4A3D2E-AC82-4680-5302-F257EE56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4FBFA664-FAB4-ADD8-3E8C-6249E730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35D9713-12E4-9087-A41A-150C0E594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474" y="515586"/>
            <a:ext cx="5618998" cy="278928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5D2CAE1-9D60-2A92-3741-1CD92C3D4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474" y="3352365"/>
            <a:ext cx="5618998" cy="278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7B44A0-F514-71C2-7DA0-77A312848A58}"/>
              </a:ext>
            </a:extLst>
          </p:cNvPr>
          <p:cNvSpPr txBox="1"/>
          <p:nvPr/>
        </p:nvSpPr>
        <p:spPr>
          <a:xfrm>
            <a:off x="1008815" y="2384539"/>
            <a:ext cx="5151266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Preisverteilung</a:t>
            </a:r>
            <a:r>
              <a:rPr lang="en-US" sz="1600" dirty="0"/>
              <a:t>=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Ap</a:t>
            </a:r>
            <a:r>
              <a:rPr lang="en-US" sz="1600" dirty="0"/>
              <a:t>.:</a:t>
            </a:r>
            <a:r>
              <a:rPr lang="en-US" sz="1600" dirty="0" err="1"/>
              <a:t>höchster</a:t>
            </a:r>
            <a:r>
              <a:rPr lang="en-US" sz="1600" dirty="0"/>
              <a:t> </a:t>
            </a:r>
            <a:r>
              <a:rPr lang="en-US" sz="1600" dirty="0" err="1"/>
              <a:t>Medianpreis</a:t>
            </a:r>
            <a:r>
              <a:rPr lang="en-US" sz="1600" dirty="0"/>
              <a:t>, </a:t>
            </a:r>
            <a:r>
              <a:rPr lang="en-US" sz="1600" dirty="0" err="1"/>
              <a:t>größte</a:t>
            </a:r>
            <a:r>
              <a:rPr lang="en-US" sz="1600" dirty="0"/>
              <a:t> </a:t>
            </a:r>
            <a:r>
              <a:rPr lang="en-US" sz="1600" dirty="0" err="1"/>
              <a:t>Preisspanne</a:t>
            </a:r>
            <a:r>
              <a:rPr lang="en-US" sz="1600" dirty="0"/>
              <a:t>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Privat</a:t>
            </a:r>
            <a:r>
              <a:rPr lang="en-US" sz="1600" dirty="0"/>
              <a:t>= </a:t>
            </a:r>
            <a:r>
              <a:rPr lang="en-US" sz="1600" dirty="0" err="1"/>
              <a:t>mittlerer</a:t>
            </a:r>
            <a:r>
              <a:rPr lang="en-US" sz="1600" dirty="0"/>
              <a:t> </a:t>
            </a:r>
            <a:r>
              <a:rPr lang="en-US" sz="1600" dirty="0" err="1"/>
              <a:t>Medianpreis</a:t>
            </a:r>
            <a:r>
              <a:rPr lang="en-US" sz="1600" dirty="0"/>
              <a:t>, </a:t>
            </a:r>
            <a:r>
              <a:rPr lang="en-US" sz="1600" dirty="0" err="1"/>
              <a:t>engere</a:t>
            </a:r>
            <a:r>
              <a:rPr lang="en-US" sz="1600" dirty="0"/>
              <a:t> </a:t>
            </a:r>
            <a:r>
              <a:rPr lang="en-US" sz="1600" dirty="0" err="1"/>
              <a:t>Preisspanne</a:t>
            </a:r>
            <a:r>
              <a:rPr lang="en-US" sz="1600" dirty="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Shared room</a:t>
            </a:r>
            <a:r>
              <a:rPr lang="en-US" sz="1600" dirty="0"/>
              <a:t>=</a:t>
            </a:r>
            <a:r>
              <a:rPr lang="en-US" sz="1600" dirty="0" err="1"/>
              <a:t>niedrigster</a:t>
            </a:r>
            <a:r>
              <a:rPr lang="en-US" sz="1600" dirty="0"/>
              <a:t> </a:t>
            </a:r>
            <a:r>
              <a:rPr lang="en-US" sz="1600" dirty="0" err="1"/>
              <a:t>Medianpreis</a:t>
            </a:r>
            <a:r>
              <a:rPr lang="en-US" sz="1600" dirty="0"/>
              <a:t>, </a:t>
            </a:r>
            <a:r>
              <a:rPr lang="en-US" sz="1600" dirty="0" err="1"/>
              <a:t>Preise</a:t>
            </a:r>
            <a:r>
              <a:rPr lang="en-US" sz="1600" dirty="0"/>
              <a:t> </a:t>
            </a:r>
            <a:r>
              <a:rPr lang="en-US" sz="1600" dirty="0" err="1"/>
              <a:t>liegen</a:t>
            </a:r>
            <a:r>
              <a:rPr lang="en-US" sz="1600" dirty="0"/>
              <a:t> nah </a:t>
            </a:r>
            <a:r>
              <a:rPr lang="en-US" sz="1600" dirty="0" err="1"/>
              <a:t>beieinander</a:t>
            </a:r>
            <a:r>
              <a:rPr lang="en-US" sz="1600" dirty="0"/>
              <a:t>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6B41974-C1B7-E9E5-B620-8AE84376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368" y="2290797"/>
            <a:ext cx="4266401" cy="2581173"/>
          </a:xfrm>
          <a:prstGeom prst="rect">
            <a:avLst/>
          </a:prstGeom>
        </p:spPr>
      </p:pic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2EFE1EA7-F05E-45D9-7533-F8E03297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80A9400-53EB-457C-8C40-1C23FEE4E657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1/15/2026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6A831D3-477A-26A0-F5D5-7734C21D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by Christin Gärtner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89A7BA9-975A-93B0-CFD1-A6811D03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98A06E8-AE4D-E6AA-02F4-D73AE4251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8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B4847-EDCD-AEF0-0F28-E8C2AF45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7166850-AC3A-57C3-37D3-862D0BC28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DFA4BE-CBC5-B22E-09AA-A27AB0988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AB12AC0-8FDF-C1E1-70C4-26E1E6214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E924ED-918C-001D-4928-40118129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1A136F8-9005-D409-6F9E-EE49B433D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1095CB-BA28-2910-51AA-FA4220845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15BB182-9A25-8005-D127-5AC69D647655}"/>
              </a:ext>
            </a:extLst>
          </p:cNvPr>
          <p:cNvSpPr txBox="1"/>
          <p:nvPr/>
        </p:nvSpPr>
        <p:spPr>
          <a:xfrm>
            <a:off x="1008815" y="2384539"/>
            <a:ext cx="5151266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50FE5D82-256B-1052-4991-1D8BA970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80A9400-53EB-457C-8C40-1C23FEE4E657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1/15/2026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B07696C-17FF-B17C-1AE3-7A3D5E95F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by Christin Gärtner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0B5C725B-A42F-B5E1-B632-E632C7F9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7EB23AC-C4FE-374F-09F3-05B49B54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4B6156AA-A892-07E1-772B-E21EE9D3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35674" y="725225"/>
            <a:ext cx="10515600" cy="4054654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E8C84574-1025-7888-9DCE-E66F880D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92" y="5004890"/>
            <a:ext cx="10515600" cy="794372"/>
          </a:xfrm>
        </p:spPr>
        <p:txBody>
          <a:bodyPr>
            <a:normAutofit/>
          </a:bodyPr>
          <a:lstStyle/>
          <a:p>
            <a:pPr marL="571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Preisschere</a:t>
            </a:r>
            <a:r>
              <a:rPr lang="en-US" sz="1600" b="1" dirty="0"/>
              <a:t> </a:t>
            </a:r>
            <a:r>
              <a:rPr lang="en-US" sz="1600" b="1" dirty="0" err="1"/>
              <a:t>zw</a:t>
            </a:r>
            <a:r>
              <a:rPr lang="en-US" sz="1600" b="1" dirty="0"/>
              <a:t>. Ap./</a:t>
            </a:r>
            <a:r>
              <a:rPr lang="en-US" sz="1600" b="1" dirty="0" err="1"/>
              <a:t>Privatzimmer</a:t>
            </a:r>
            <a:r>
              <a:rPr lang="en-US" sz="1600" b="1" dirty="0"/>
              <a:t> </a:t>
            </a:r>
            <a:r>
              <a:rPr lang="en-US" sz="1600" dirty="0"/>
              <a:t>= Amsterdam, Barcelona, London &gt; </a:t>
            </a:r>
            <a:r>
              <a:rPr lang="en-US" sz="1600" dirty="0" err="1"/>
              <a:t>Preisabstand</a:t>
            </a:r>
            <a:br>
              <a:rPr lang="en-US" sz="1600" dirty="0"/>
            </a:br>
            <a:r>
              <a:rPr lang="en-US" sz="1600" dirty="0"/>
              <a:t>			                Rom, Budapest und Athen &lt; </a:t>
            </a:r>
            <a:r>
              <a:rPr lang="en-US" sz="1600" dirty="0" err="1"/>
              <a:t>Preisabstand</a:t>
            </a:r>
            <a:br>
              <a:rPr lang="en-US" sz="1600" dirty="0"/>
            </a:b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46684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87BAD2-9705-9D62-DD70-A75D8669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1300" dirty="0"/>
            </a:br>
            <a:r>
              <a:rPr lang="de-DE" sz="1800" b="1" dirty="0">
                <a:latin typeface="+mn-lt"/>
              </a:rPr>
              <a:t>OBJEKTANALYSE AUF ANGEBOTSBASIS</a:t>
            </a:r>
            <a:br>
              <a:rPr lang="de-DE" sz="1300" dirty="0"/>
            </a:br>
            <a:br>
              <a:rPr lang="de-DE" sz="1300" dirty="0"/>
            </a:br>
            <a:br>
              <a:rPr lang="de-DE" sz="1300" dirty="0"/>
            </a:br>
            <a:endParaRPr lang="de-DE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A33743-60F0-D9EE-FBD4-78D99AFC7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51" y="2461933"/>
            <a:ext cx="5323197" cy="3449302"/>
          </a:xfrm>
        </p:spPr>
        <p:txBody>
          <a:bodyPr anchor="ctr">
            <a:normAutofit/>
          </a:bodyPr>
          <a:lstStyle/>
          <a:p>
            <a:endParaRPr lang="de-DE" sz="1500" b="1" dirty="0"/>
          </a:p>
          <a:p>
            <a:r>
              <a:rPr lang="de-DE" sz="1500" b="1" dirty="0"/>
              <a:t>Durchschnittliche Gästeanzahl nach Zimmertyp</a:t>
            </a:r>
            <a:r>
              <a:rPr lang="de-DE" sz="1500" dirty="0"/>
              <a:t>= 2,3 Privatzimmern, App.=3,65, geteilte Zimmer=3.7 </a:t>
            </a:r>
            <a:r>
              <a:rPr lang="de-DE" sz="1500" dirty="0" err="1"/>
              <a:t>shared</a:t>
            </a:r>
            <a:r>
              <a:rPr lang="de-DE" sz="1500" dirty="0"/>
              <a:t> </a:t>
            </a:r>
            <a:r>
              <a:rPr lang="de-DE" sz="1500" dirty="0" err="1"/>
              <a:t>rooms</a:t>
            </a:r>
            <a:r>
              <a:rPr lang="de-DE" sz="1500" dirty="0"/>
              <a:t>)</a:t>
            </a:r>
          </a:p>
          <a:p>
            <a:r>
              <a:rPr lang="de-DE" sz="1500" b="1" dirty="0"/>
              <a:t>Personenverteilung</a:t>
            </a:r>
            <a:r>
              <a:rPr lang="de-DE" sz="1500" dirty="0"/>
              <a:t>=</a:t>
            </a:r>
            <a:r>
              <a:rPr lang="de-DE" sz="1500" b="1" dirty="0"/>
              <a:t>App</a:t>
            </a:r>
            <a:r>
              <a:rPr lang="de-DE" sz="1500" dirty="0"/>
              <a:t>.=zw. 2-6 Personen, Mehrheit bei 4 Personen, </a:t>
            </a:r>
            <a:r>
              <a:rPr lang="de-DE" sz="1500" b="1" dirty="0"/>
              <a:t>Privat</a:t>
            </a:r>
            <a:r>
              <a:rPr lang="de-DE" sz="1500" dirty="0"/>
              <a:t>=zw.2-4 Personen, Mehrheit 2 Personen, </a:t>
            </a:r>
            <a:r>
              <a:rPr lang="de-DE" sz="1500" b="1" dirty="0" err="1"/>
              <a:t>Shared</a:t>
            </a:r>
            <a:r>
              <a:rPr lang="de-DE" sz="1500" b="1" dirty="0"/>
              <a:t> </a:t>
            </a:r>
            <a:r>
              <a:rPr lang="de-DE" sz="1500" b="1" dirty="0" err="1"/>
              <a:t>room</a:t>
            </a:r>
            <a:r>
              <a:rPr lang="de-DE" sz="1500" dirty="0"/>
              <a:t>=zwischen 1-7 Personen, Mehrheit 2 Personen(</a:t>
            </a:r>
            <a:r>
              <a:rPr lang="de-DE" sz="1500" dirty="0" err="1"/>
              <a:t>Hostelcharakter</a:t>
            </a:r>
            <a:r>
              <a:rPr lang="de-DE" sz="1500" dirty="0"/>
              <a:t>)</a:t>
            </a:r>
          </a:p>
          <a:p>
            <a:r>
              <a:rPr lang="de-DE" sz="1500" b="1" dirty="0"/>
              <a:t> Schlafzimmerverteilung</a:t>
            </a:r>
            <a:r>
              <a:rPr lang="de-DE" sz="1500" dirty="0"/>
              <a:t>=</a:t>
            </a:r>
            <a:r>
              <a:rPr lang="de-DE" sz="1500" b="1" dirty="0"/>
              <a:t>App</a:t>
            </a:r>
            <a:r>
              <a:rPr lang="de-DE" sz="1500" dirty="0"/>
              <a:t>.=0-5, Mehrheit 1 Schlafzimmer, </a:t>
            </a:r>
            <a:r>
              <a:rPr lang="de-DE" sz="1500" b="1" dirty="0"/>
              <a:t>Privat</a:t>
            </a:r>
            <a:r>
              <a:rPr lang="de-DE" sz="1500" dirty="0"/>
              <a:t>=0-2, Mehrheit 1 Schlafzimmer, </a:t>
            </a:r>
            <a:r>
              <a:rPr lang="de-DE" sz="1500" b="1" dirty="0" err="1"/>
              <a:t>Shared</a:t>
            </a:r>
            <a:r>
              <a:rPr lang="de-DE" sz="1500" b="1" dirty="0"/>
              <a:t> </a:t>
            </a:r>
            <a:r>
              <a:rPr lang="de-DE" sz="1500" b="1" dirty="0" err="1"/>
              <a:t>room</a:t>
            </a:r>
            <a:r>
              <a:rPr lang="de-DE" sz="1500" dirty="0"/>
              <a:t>=1 Schlafzimmer</a:t>
            </a:r>
          </a:p>
          <a:p>
            <a:r>
              <a:rPr lang="de-DE" sz="1500" b="1" dirty="0"/>
              <a:t>größte Anzahl an Schlafzimmern </a:t>
            </a:r>
            <a:r>
              <a:rPr lang="de-DE" sz="1500" dirty="0"/>
              <a:t>= 10 # privat in Lissabon</a:t>
            </a:r>
          </a:p>
          <a:p>
            <a:endParaRPr lang="de-DE" sz="1500" dirty="0"/>
          </a:p>
          <a:p>
            <a:endParaRPr lang="de-DE" sz="1500" dirty="0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B23C791-E61C-145B-FF6E-C07BB8B5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" r="2" b="2"/>
          <a:stretch>
            <a:fillRect/>
          </a:stretch>
        </p:blipFill>
        <p:spPr>
          <a:xfrm>
            <a:off x="6673436" y="3572048"/>
            <a:ext cx="4389120" cy="2581173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EF2A3B-1FDC-18F6-F8EB-8002A155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B854EC-BA7C-4FF8-A6C9-A57392569C84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2E08314-C363-587E-E1C0-A83A88BB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BC8B6A-ADFF-9BFC-2391-A8975F23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B961492-BF04-A5BA-43C0-CB7136050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374" y="589133"/>
            <a:ext cx="4293243" cy="283954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D622765-40AB-ECFC-2410-F8F1116CB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2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A74A7-F12B-19CE-68B3-1E7FE063B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191DAD-C7B8-99E1-4619-70B96A812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AA7D5D-CC57-0383-6CA5-9282F166F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81DAE4-07F8-3AE0-6B98-A63F6C1CD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955438-80B8-B7FA-B8C4-7809F823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DA2F3F-C0CE-1288-AE87-C43171AD6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B7BAAC-8550-A123-64CE-4818F0D8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br>
              <a:rPr lang="de-DE" sz="2000" dirty="0">
                <a:latin typeface="+mn-lt"/>
              </a:rPr>
            </a:br>
            <a:r>
              <a:rPr lang="de-DE" sz="2000" b="1" dirty="0">
                <a:latin typeface="+mn-lt"/>
              </a:rPr>
              <a:t>PERSONENANALYSE AUF ANGEBOTSBASIS</a:t>
            </a:r>
            <a:br>
              <a:rPr lang="de-DE" sz="2000" dirty="0">
                <a:latin typeface="+mn-lt"/>
              </a:rPr>
            </a:br>
            <a:br>
              <a:rPr lang="de-DE" sz="1300" dirty="0"/>
            </a:br>
            <a:br>
              <a:rPr lang="de-DE" sz="1300" dirty="0"/>
            </a:br>
            <a:endParaRPr lang="de-DE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EF5A9-E337-FF95-B8FB-4A9C60539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5536F-D5FD-09A3-5AC3-13B81563D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88" y="2918991"/>
            <a:ext cx="5040285" cy="2234548"/>
          </a:xfrm>
        </p:spPr>
        <p:txBody>
          <a:bodyPr anchor="ctr">
            <a:noAutofit/>
          </a:bodyPr>
          <a:lstStyle/>
          <a:p>
            <a:endParaRPr lang="de-DE" sz="1600" b="1" dirty="0"/>
          </a:p>
          <a:p>
            <a:r>
              <a:rPr lang="de-DE" sz="1600" b="1" dirty="0" err="1"/>
              <a:t>höchstmögl</a:t>
            </a:r>
            <a:r>
              <a:rPr lang="de-DE" sz="1600" b="1" dirty="0"/>
              <a:t>. Gästeanzahl (1-7) nach Angebot: </a:t>
            </a:r>
          </a:p>
          <a:p>
            <a:pPr marL="0" indent="0">
              <a:buNone/>
            </a:pPr>
            <a:r>
              <a:rPr lang="de-DE" sz="1600" dirty="0"/>
              <a:t>Athen(3,7), Budapest(3,52), Rom(3,36)</a:t>
            </a:r>
          </a:p>
          <a:p>
            <a:pPr marL="0" indent="0">
              <a:buNone/>
            </a:pPr>
            <a:endParaRPr lang="de-DE" sz="1600" dirty="0"/>
          </a:p>
          <a:p>
            <a:r>
              <a:rPr lang="de-DE" sz="1600" b="1" dirty="0"/>
              <a:t>geringste Gästeanzahl (1-7) nach Angebot: </a:t>
            </a:r>
          </a:p>
          <a:p>
            <a:pPr marL="0" indent="0">
              <a:buNone/>
            </a:pPr>
            <a:r>
              <a:rPr lang="de-DE" sz="1600" dirty="0"/>
              <a:t>Barcelona(2,62), Berlin(2,77), Amsterdam(2,78)</a:t>
            </a:r>
          </a:p>
          <a:p>
            <a:endParaRPr lang="de-DE" sz="1600" dirty="0"/>
          </a:p>
          <a:p>
            <a:r>
              <a:rPr lang="de-DE" sz="1600" b="1" dirty="0" err="1"/>
              <a:t>größtmögl</a:t>
            </a:r>
            <a:r>
              <a:rPr lang="de-DE" sz="1600" b="1" dirty="0"/>
              <a:t>. Gästeanzahl </a:t>
            </a:r>
            <a:r>
              <a:rPr lang="de-DE" sz="1600" dirty="0"/>
              <a:t>= Rom(Ap./5561), London(Privat/5559), Paris(Ap./5067)</a:t>
            </a:r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FCA4740-F027-5B8D-248C-96F3BEAF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B854EC-BA7C-4FF8-A6C9-A57392569C84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53F5DB-CF1C-1933-FD54-488B2906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4B21D37-7F6F-177B-CE0B-8AE15453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0E7CC00-73CE-1401-FA36-DC531CDA3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23" y="3585407"/>
            <a:ext cx="5418740" cy="266057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5250F88-2DA1-E2E1-3F47-7889A295C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27904CC-A384-0CBF-E876-7914899D8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752" y="715428"/>
            <a:ext cx="5558981" cy="275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8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01FA30-75FE-B851-B711-A86826DA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ANALYSE REISEANLASS</a:t>
            </a:r>
            <a:b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30EA92-3A17-B157-1AFF-42FE1CA5F4B0}"/>
              </a:ext>
            </a:extLst>
          </p:cNvPr>
          <p:cNvSpPr txBox="1"/>
          <p:nvPr/>
        </p:nvSpPr>
        <p:spPr>
          <a:xfrm>
            <a:off x="977509" y="2707610"/>
            <a:ext cx="571547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Verteilung</a:t>
            </a:r>
            <a:r>
              <a:rPr lang="en-US" sz="1600" b="1" dirty="0"/>
              <a:t> der </a:t>
            </a:r>
            <a:r>
              <a:rPr lang="en-US" sz="1600" b="1" dirty="0" err="1"/>
              <a:t>Angebote</a:t>
            </a:r>
            <a:r>
              <a:rPr lang="en-US" sz="1600" dirty="0"/>
              <a:t>=</a:t>
            </a:r>
            <a:r>
              <a:rPr lang="en-US" sz="1600" b="1" dirty="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Ap</a:t>
            </a:r>
            <a:r>
              <a:rPr lang="en-US" sz="1600" dirty="0"/>
              <a:t>.= 11.818 </a:t>
            </a:r>
            <a:r>
              <a:rPr lang="en-US" sz="1600" dirty="0" err="1"/>
              <a:t>Geschäftsreise</a:t>
            </a:r>
            <a:r>
              <a:rPr lang="en-US" sz="1600" dirty="0"/>
              <a:t>, 20.830 </a:t>
            </a:r>
            <a:r>
              <a:rPr lang="en-US" sz="1600" dirty="0" err="1"/>
              <a:t>Touristik</a:t>
            </a:r>
            <a:r>
              <a:rPr lang="en-US" sz="1600" dirty="0"/>
              <a:t>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Privat</a:t>
            </a:r>
            <a:r>
              <a:rPr lang="en-US" sz="1600" dirty="0"/>
              <a:t>= 6.070 Geschäftsreise,12.623 </a:t>
            </a:r>
            <a:r>
              <a:rPr lang="en-US" sz="1600" dirty="0" err="1"/>
              <a:t>Touristik</a:t>
            </a:r>
            <a:r>
              <a:rPr lang="en-US" sz="1600" dirty="0"/>
              <a:t>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Shared room</a:t>
            </a:r>
            <a:r>
              <a:rPr lang="en-US" sz="1600" dirty="0"/>
              <a:t>= 220 </a:t>
            </a:r>
            <a:r>
              <a:rPr lang="en-US" sz="1600" dirty="0" err="1"/>
              <a:t>Geschäftsreise</a:t>
            </a:r>
            <a:r>
              <a:rPr lang="en-US" sz="1600" dirty="0"/>
              <a:t>, 146 </a:t>
            </a:r>
            <a:r>
              <a:rPr lang="en-US" sz="1600" dirty="0" err="1"/>
              <a:t>Touristik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signifikant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 err="1">
                <a:sym typeface="Wingdings" panose="05000000000000000000" pitchFamily="2" charset="2"/>
              </a:rPr>
              <a:t>überwiegend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werden</a:t>
            </a:r>
            <a:r>
              <a:rPr lang="en-US" sz="1600" dirty="0">
                <a:sym typeface="Wingdings" panose="05000000000000000000" pitchFamily="2" charset="2"/>
              </a:rPr>
              <a:t> shared rooms </a:t>
            </a:r>
            <a:r>
              <a:rPr lang="en-US" sz="1600" dirty="0" err="1">
                <a:sym typeface="Wingdings" panose="05000000000000000000" pitchFamily="2" charset="2"/>
              </a:rPr>
              <a:t>mit</a:t>
            </a:r>
            <a:r>
              <a:rPr lang="en-US" sz="1600" dirty="0">
                <a:sym typeface="Wingdings" panose="05000000000000000000" pitchFamily="2" charset="2"/>
              </a:rPr>
              <a:t>  </a:t>
            </a:r>
            <a:r>
              <a:rPr lang="en-US" sz="1600" dirty="0" err="1">
                <a:sym typeface="Wingdings" panose="05000000000000000000" pitchFamily="2" charset="2"/>
              </a:rPr>
              <a:t>Geschäftsreise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angeboten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hingegen</a:t>
            </a:r>
            <a:r>
              <a:rPr lang="en-US" sz="1600" dirty="0">
                <a:sym typeface="Wingdings" panose="05000000000000000000" pitchFamily="2" charset="2"/>
              </a:rPr>
              <a:t> Ap./Privat. Nicht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 err="1">
                <a:sym typeface="Wingdings" panose="05000000000000000000" pitchFamily="2" charset="2"/>
              </a:rPr>
              <a:t>Indiz</a:t>
            </a:r>
            <a:r>
              <a:rPr lang="en-US" sz="1600" dirty="0">
                <a:sym typeface="Wingdings" panose="05000000000000000000" pitchFamily="2" charset="2"/>
              </a:rPr>
              <a:t> für “</a:t>
            </a:r>
            <a:r>
              <a:rPr lang="en-US" sz="1600" dirty="0" err="1">
                <a:sym typeface="Wingdings" panose="05000000000000000000" pitchFamily="2" charset="2"/>
              </a:rPr>
              <a:t>Montagezimmer</a:t>
            </a:r>
            <a:r>
              <a:rPr lang="en-US" sz="1600" dirty="0">
                <a:sym typeface="Wingdings" panose="05000000000000000000" pitchFamily="2" charset="2"/>
              </a:rPr>
              <a:t>”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London, Rom, Paris </a:t>
            </a:r>
            <a:r>
              <a:rPr lang="en-US" sz="1600" dirty="0" err="1"/>
              <a:t>überwiegend</a:t>
            </a:r>
            <a:r>
              <a:rPr lang="en-US" sz="1600" dirty="0"/>
              <a:t> </a:t>
            </a:r>
            <a:r>
              <a:rPr lang="en-US" sz="1600" dirty="0" err="1"/>
              <a:t>Touristikangebote</a:t>
            </a:r>
            <a:endParaRPr lang="en-US" sz="16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Geschäftsangebote</a:t>
            </a:r>
            <a:r>
              <a:rPr lang="en-US" sz="1600" dirty="0"/>
              <a:t> </a:t>
            </a:r>
            <a:r>
              <a:rPr lang="en-US" sz="1600" dirty="0" err="1"/>
              <a:t>überwiegend</a:t>
            </a:r>
            <a:r>
              <a:rPr lang="en-US" sz="1600" dirty="0"/>
              <a:t> in </a:t>
            </a:r>
            <a:r>
              <a:rPr lang="en-US" sz="1600" dirty="0" err="1"/>
              <a:t>Lissabon</a:t>
            </a:r>
            <a:r>
              <a:rPr lang="en-US" sz="16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D0FE09F-D541-F179-B042-BCE6359B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E09F4B-013E-4C7E-B957-F03664B0CF2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1/15/2026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196240F3-5E46-5C34-09DB-0CEBF1AD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by Christin Gärtner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76781EF-D02D-DF92-7CDA-7DD0713F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3A5F791-D5D7-5915-BF85-85AE4E65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4B47B79-1545-F354-8FAD-541B3F227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12" y="533060"/>
            <a:ext cx="3419631" cy="255681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07F5793-C1A2-0415-1B05-61818B3E0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212" y="3206252"/>
            <a:ext cx="4864229" cy="282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5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D986C-ED29-9D6F-02FF-001D6FD0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8E7EEE-EBA2-E100-8067-0257C9EEB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60145-65C3-48A6-3707-3464E6B7C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0FF9EA-99A2-AF10-E0CB-782E369EC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E300A3-E429-BA9F-9713-CDDE02587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2557ACB-23FC-4296-A0A0-850D71DD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CB3E24-6698-4923-3748-47BFFBEAB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D87D467-E4FB-39FE-7D77-D3067BAF5766}"/>
              </a:ext>
            </a:extLst>
          </p:cNvPr>
          <p:cNvSpPr txBox="1"/>
          <p:nvPr/>
        </p:nvSpPr>
        <p:spPr>
          <a:xfrm>
            <a:off x="977509" y="2707610"/>
            <a:ext cx="571547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7E0FA93-8BEA-53BB-0A25-70FF43D0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E09F4B-013E-4C7E-B957-F03664B0CF2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1/15/2026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BEB0F88-AB02-514B-1551-59BF7656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by Christin Gärtner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00F1121-D9CA-8CA0-A0A8-E6F2560E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A0C7615-3ACF-85D9-D14F-17A62AD5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4AA19A6-05C4-8387-E771-17F166B6B91A}"/>
              </a:ext>
            </a:extLst>
          </p:cNvPr>
          <p:cNvSpPr txBox="1"/>
          <p:nvPr/>
        </p:nvSpPr>
        <p:spPr>
          <a:xfrm>
            <a:off x="932739" y="2383299"/>
            <a:ext cx="5760245" cy="3605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mögl</a:t>
            </a:r>
            <a:r>
              <a:rPr lang="en-US" sz="1600" b="1" dirty="0"/>
              <a:t>. </a:t>
            </a:r>
            <a:r>
              <a:rPr lang="en-US" sz="1600" b="1" dirty="0" err="1"/>
              <a:t>Umsatzvolumen</a:t>
            </a:r>
            <a:r>
              <a:rPr lang="en-US" sz="1600" b="1" dirty="0"/>
              <a:t> der </a:t>
            </a:r>
            <a:r>
              <a:rPr lang="en-US" sz="1600" b="1" dirty="0" err="1"/>
              <a:t>Städte</a:t>
            </a:r>
            <a:r>
              <a:rPr lang="en-US" sz="1600" b="1" dirty="0"/>
              <a:t> </a:t>
            </a:r>
            <a:r>
              <a:rPr lang="en-US" sz="1600" b="1" dirty="0" err="1"/>
              <a:t>im</a:t>
            </a:r>
            <a:r>
              <a:rPr lang="en-US" sz="1600" b="1" dirty="0"/>
              <a:t> GR-</a:t>
            </a:r>
            <a:r>
              <a:rPr lang="en-US" sz="1600" b="1" dirty="0" err="1"/>
              <a:t>Bereich</a:t>
            </a:r>
            <a:r>
              <a:rPr lang="en-US" sz="1600" b="1" dirty="0"/>
              <a:t> </a:t>
            </a:r>
            <a:r>
              <a:rPr lang="en-US" sz="1600" dirty="0"/>
              <a:t>=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London=1.5 Mill. €, </a:t>
            </a:r>
            <a:r>
              <a:rPr lang="en-US" sz="1600" dirty="0" err="1"/>
              <a:t>Lissabon</a:t>
            </a:r>
            <a:r>
              <a:rPr lang="en-US" sz="1600" dirty="0"/>
              <a:t> 793.784 €, Paris 745.029 €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(</a:t>
            </a:r>
            <a:r>
              <a:rPr lang="en-US" sz="1600" dirty="0" err="1"/>
              <a:t>exkl</a:t>
            </a:r>
            <a:r>
              <a:rPr lang="en-US" sz="1600" dirty="0"/>
              <a:t>. </a:t>
            </a:r>
            <a:r>
              <a:rPr lang="en-US" sz="1600" dirty="0" err="1"/>
              <a:t>weniger</a:t>
            </a:r>
            <a:r>
              <a:rPr lang="en-US" sz="1600" dirty="0"/>
              <a:t> </a:t>
            </a:r>
            <a:r>
              <a:rPr lang="en-US" sz="1600" dirty="0" err="1"/>
              <a:t>Angebote</a:t>
            </a:r>
            <a:r>
              <a:rPr lang="en-US" sz="1600" dirty="0"/>
              <a:t> </a:t>
            </a:r>
            <a:r>
              <a:rPr lang="en-US" sz="1600" dirty="0" err="1"/>
              <a:t>aber</a:t>
            </a:r>
            <a:r>
              <a:rPr lang="en-US" sz="1600" dirty="0"/>
              <a:t> </a:t>
            </a:r>
            <a:r>
              <a:rPr lang="en-US" sz="1600" dirty="0" err="1"/>
              <a:t>teuer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Amsterdam= </a:t>
            </a:r>
            <a:r>
              <a:rPr lang="en-US" sz="1600" dirty="0" err="1"/>
              <a:t>kein</a:t>
            </a:r>
            <a:r>
              <a:rPr lang="en-US" sz="1600" dirty="0"/>
              <a:t> </a:t>
            </a:r>
            <a:r>
              <a:rPr lang="en-US" sz="1600" dirty="0" err="1"/>
              <a:t>Angebot</a:t>
            </a:r>
            <a:r>
              <a:rPr lang="en-US" sz="1600" dirty="0"/>
              <a:t> in Shared Rooms für GR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mögl</a:t>
            </a:r>
            <a:r>
              <a:rPr lang="en-US" sz="1600" b="1" dirty="0"/>
              <a:t>. </a:t>
            </a:r>
            <a:r>
              <a:rPr lang="en-US" sz="1600" b="1" dirty="0" err="1"/>
              <a:t>Umsatzvolumen</a:t>
            </a:r>
            <a:r>
              <a:rPr lang="en-US" sz="1600" b="1" dirty="0"/>
              <a:t> der </a:t>
            </a:r>
            <a:r>
              <a:rPr lang="en-US" sz="1600" b="1" dirty="0" err="1"/>
              <a:t>Städte</a:t>
            </a:r>
            <a:r>
              <a:rPr lang="en-US" sz="1600" b="1" dirty="0"/>
              <a:t> </a:t>
            </a:r>
            <a:r>
              <a:rPr lang="en-US" sz="1600" b="1" dirty="0" err="1"/>
              <a:t>im</a:t>
            </a:r>
            <a:r>
              <a:rPr lang="en-US" sz="1600" b="1" dirty="0"/>
              <a:t> T.-</a:t>
            </a:r>
            <a:r>
              <a:rPr lang="en-US" sz="1600" b="1" dirty="0" err="1"/>
              <a:t>Bereich</a:t>
            </a:r>
            <a:r>
              <a:rPr lang="en-US" sz="1600" b="1" dirty="0"/>
              <a:t> </a:t>
            </a:r>
            <a:r>
              <a:rPr lang="en-US" sz="1600" dirty="0"/>
              <a:t>=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London=2,03 Mill. €, Paris 1,8 Mill. € (</a:t>
            </a:r>
            <a:r>
              <a:rPr lang="en-US" sz="1600" dirty="0" err="1"/>
              <a:t>exkl</a:t>
            </a:r>
            <a:r>
              <a:rPr lang="en-US" sz="1600" dirty="0"/>
              <a:t>. </a:t>
            </a:r>
            <a:r>
              <a:rPr lang="en-US" sz="1600" dirty="0" err="1"/>
              <a:t>weniger</a:t>
            </a:r>
            <a:r>
              <a:rPr lang="en-US" sz="1600" dirty="0"/>
              <a:t> </a:t>
            </a:r>
            <a:r>
              <a:rPr lang="en-US" sz="1600" dirty="0" err="1"/>
              <a:t>Angebote</a:t>
            </a:r>
            <a:r>
              <a:rPr lang="en-US" sz="1600" dirty="0"/>
              <a:t> </a:t>
            </a:r>
            <a:r>
              <a:rPr lang="en-US" sz="1600" dirty="0" err="1"/>
              <a:t>aber</a:t>
            </a:r>
            <a:r>
              <a:rPr lang="en-US" sz="1600" dirty="0"/>
              <a:t> </a:t>
            </a:r>
            <a:r>
              <a:rPr lang="en-US" sz="1600" dirty="0" err="1"/>
              <a:t>teuer</a:t>
            </a:r>
            <a:r>
              <a:rPr lang="en-US" sz="1600" dirty="0"/>
              <a:t>), Rom 1,2 Mill.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2FCDC5-0400-2AE9-FCC6-E252350A7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52" y="564829"/>
            <a:ext cx="4694648" cy="272439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93EE38F-C864-D7A3-75C1-876049ECA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281" y="3336157"/>
            <a:ext cx="4840190" cy="280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75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58C114-7FA0-849B-72F5-BE63AB6A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de-DE" sz="1800" b="1" dirty="0">
                <a:latin typeface="+mn-lt"/>
              </a:rPr>
              <a:t>ANALYSE GASTGEBER</a:t>
            </a:r>
            <a:br>
              <a:rPr lang="de-DE" sz="3700" dirty="0"/>
            </a:br>
            <a:endParaRPr lang="de-DE" sz="3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E40782-3F82-3F80-2190-98B1103FF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02" y="2092229"/>
            <a:ext cx="5040285" cy="3632493"/>
          </a:xfrm>
        </p:spPr>
        <p:txBody>
          <a:bodyPr anchor="ctr">
            <a:normAutofit/>
          </a:bodyPr>
          <a:lstStyle/>
          <a:p>
            <a:r>
              <a:rPr lang="de-DE" sz="1600" b="1" dirty="0"/>
              <a:t>Anzahl Top</a:t>
            </a:r>
            <a:r>
              <a:rPr lang="de-DE" sz="1600" dirty="0"/>
              <a:t> </a:t>
            </a:r>
            <a:r>
              <a:rPr lang="de-DE" sz="1600" b="1" dirty="0"/>
              <a:t>Multi-Gastgeber</a:t>
            </a:r>
            <a:r>
              <a:rPr lang="de-DE" sz="1600" dirty="0"/>
              <a:t>= Rom(3.484), London(2.748), Paris(1.468)</a:t>
            </a:r>
          </a:p>
          <a:p>
            <a:r>
              <a:rPr lang="de-DE" sz="1600" b="1" dirty="0"/>
              <a:t>Anzahl  Flop</a:t>
            </a:r>
            <a:r>
              <a:rPr lang="de-DE" sz="1600" dirty="0"/>
              <a:t> </a:t>
            </a:r>
            <a:r>
              <a:rPr lang="de-DE" sz="1600" b="1" dirty="0"/>
              <a:t>Multi-Gastgeber</a:t>
            </a:r>
            <a:r>
              <a:rPr lang="de-DE" sz="1600" dirty="0"/>
              <a:t>=Amsterdam(589), Berlin(686), Wien(987)</a:t>
            </a:r>
          </a:p>
          <a:p>
            <a:r>
              <a:rPr lang="de-DE" sz="1600" b="1" dirty="0"/>
              <a:t>Anzahl  Top</a:t>
            </a:r>
            <a:r>
              <a:rPr lang="de-DE" sz="1600" dirty="0"/>
              <a:t> </a:t>
            </a:r>
            <a:r>
              <a:rPr lang="de-DE" sz="1600" b="1" dirty="0"/>
              <a:t>Single-Gastgeber</a:t>
            </a:r>
            <a:r>
              <a:rPr lang="de-DE" sz="1600" dirty="0"/>
              <a:t> = London(7.245), Rom( 5.543), Paris(5.220)</a:t>
            </a:r>
          </a:p>
          <a:p>
            <a:r>
              <a:rPr lang="de-DE" sz="1600" b="1" dirty="0"/>
              <a:t>Anzahl  Flop</a:t>
            </a:r>
            <a:r>
              <a:rPr lang="de-DE" sz="1600" dirty="0"/>
              <a:t> </a:t>
            </a:r>
            <a:r>
              <a:rPr lang="de-DE" sz="1600" b="1" dirty="0"/>
              <a:t>Single-Gastgeber</a:t>
            </a:r>
            <a:r>
              <a:rPr lang="de-DE" sz="1600" dirty="0"/>
              <a:t>=Amsterdam(1.491), Barcelona(1.742), Berlin(1.798)</a:t>
            </a:r>
          </a:p>
          <a:p>
            <a:r>
              <a:rPr lang="de-DE" sz="1600" b="1" dirty="0"/>
              <a:t>Anzahl  Multi-Gastgeber + Superhost</a:t>
            </a:r>
            <a:r>
              <a:rPr lang="de-DE" sz="1600" dirty="0"/>
              <a:t>= Rom(1.315), Athen(686), London(669)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3404E99-B184-3D69-E6FC-D354A7DF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" r="2" b="2"/>
          <a:stretch>
            <a:fillRect/>
          </a:stretch>
        </p:blipFill>
        <p:spPr>
          <a:xfrm>
            <a:off x="6298274" y="624952"/>
            <a:ext cx="4660259" cy="2740626"/>
          </a:xfrm>
          <a:prstGeom prst="rect">
            <a:avLst/>
          </a:prstGeom>
        </p:spPr>
      </p:pic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58EF5D61-402A-0436-9D01-58D6DDDC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EC5DFB-7DE1-4239-BC0A-20E3C2E06F0B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F541F04-5C2A-1DCE-3409-842F3B3C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7FCBE60-8C6D-16EF-25D1-743DBF6F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6D8A4C0-5F58-3895-7159-EE8061F4A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469" y="3694177"/>
            <a:ext cx="5220332" cy="183598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BC39B49-246F-2D69-2D14-9E1AB80E9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0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48BD6-ABEF-C3E0-151A-1BB30FD96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2921047-C5BE-E6C7-0D9E-AB78FE284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1D8975-BB47-9A12-59B8-185E024A9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87942C-0B3B-A10D-3028-D20130682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E6FCD4-C0E2-31B9-3F5E-CC00BCEB6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663FB-0D1F-02FE-D8F4-E174FCA8E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18C4AD-FF7D-12FC-B527-09432AE2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3700" dirty="0"/>
            </a:br>
            <a:endParaRPr lang="de-DE" sz="3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9D274-DE55-84F6-D162-6CF286222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B5D2D-35BA-2176-C2F6-14932CA3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6"/>
            <a:ext cx="10175182" cy="3258514"/>
          </a:xfrm>
        </p:spPr>
        <p:txBody>
          <a:bodyPr anchor="ctr">
            <a:normAutofit fontScale="77500" lnSpcReduction="20000"/>
          </a:bodyPr>
          <a:lstStyle/>
          <a:p>
            <a:r>
              <a:rPr lang="de-DE" sz="2000" b="1" dirty="0"/>
              <a:t>Sauberkeit und Gästezufriedenheit</a:t>
            </a:r>
          </a:p>
          <a:p>
            <a:r>
              <a:rPr lang="de-DE" sz="2000" dirty="0"/>
              <a:t>Gewinner Ranking= Athen, Budapest, Amsterdam</a:t>
            </a:r>
          </a:p>
          <a:p>
            <a:r>
              <a:rPr lang="de-DE" sz="2000" dirty="0"/>
              <a:t>Verlierer Ranking=London, Lissabon, Barcelona</a:t>
            </a:r>
          </a:p>
          <a:p>
            <a:endParaRPr lang="de-DE" sz="2000" dirty="0"/>
          </a:p>
          <a:p>
            <a:r>
              <a:rPr lang="de-DE" sz="2000" b="1" dirty="0"/>
              <a:t>Sauberkeit / Gästezufriedenheit pro Zimmertyp</a:t>
            </a:r>
          </a:p>
          <a:p>
            <a:r>
              <a:rPr lang="de-DE" sz="2000" dirty="0"/>
              <a:t>Gewinner Ranking= Budapest(</a:t>
            </a:r>
            <a:r>
              <a:rPr lang="de-DE" sz="2000" dirty="0" err="1"/>
              <a:t>Shared</a:t>
            </a:r>
            <a:r>
              <a:rPr lang="de-DE" sz="2000" dirty="0"/>
              <a:t> Room, Amsterdam(App.), Athen(App.)</a:t>
            </a:r>
          </a:p>
          <a:p>
            <a:r>
              <a:rPr lang="de-DE" sz="2000" dirty="0"/>
              <a:t>Verlierer Ranking=Lissabon(</a:t>
            </a:r>
            <a:r>
              <a:rPr lang="de-DE" sz="2000" dirty="0" err="1"/>
              <a:t>Shared</a:t>
            </a:r>
            <a:r>
              <a:rPr lang="de-DE" sz="2000" dirty="0"/>
              <a:t> Room), Rom(</a:t>
            </a:r>
            <a:r>
              <a:rPr lang="de-DE" sz="2000" dirty="0" err="1"/>
              <a:t>Shared</a:t>
            </a:r>
            <a:r>
              <a:rPr lang="de-DE" sz="2000" dirty="0"/>
              <a:t> Room), Wien(</a:t>
            </a:r>
            <a:r>
              <a:rPr lang="de-DE" sz="2000" dirty="0" err="1"/>
              <a:t>Shared</a:t>
            </a:r>
            <a:r>
              <a:rPr lang="de-DE" sz="2000" dirty="0"/>
              <a:t> Room)</a:t>
            </a:r>
          </a:p>
          <a:p>
            <a:endParaRPr lang="de-DE" sz="20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sz="2000" dirty="0"/>
              <a:t>Korrelation bestätigt! Je höher die Sauberkeitsbewertung, desto höher auch die Gesamtgästezufriedenheit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sz="2000" dirty="0"/>
              <a:t>Korrelation mit Sauberkeit / Gästezufriedenheit und Entfernung </a:t>
            </a:r>
            <a:r>
              <a:rPr lang="de-DE" sz="2000" dirty="0" err="1"/>
              <a:t>dist</a:t>
            </a:r>
            <a:r>
              <a:rPr lang="de-DE" sz="2000" dirty="0"/>
              <a:t> + </a:t>
            </a:r>
            <a:r>
              <a:rPr lang="de-DE" sz="2000" dirty="0" err="1"/>
              <a:t>metro</a:t>
            </a:r>
            <a:r>
              <a:rPr lang="de-DE" sz="2000" dirty="0"/>
              <a:t> </a:t>
            </a:r>
            <a:r>
              <a:rPr lang="de-DE" sz="2000" dirty="0" err="1"/>
              <a:t>dist</a:t>
            </a:r>
            <a:r>
              <a:rPr lang="de-DE" sz="2000" dirty="0"/>
              <a:t> nicht bestätigt.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sz="2000" dirty="0"/>
              <a:t>Grundsätzlich Gäste unzufriedener zwischen 3-5 km im Vgl. Stadtnähe (0-3 km) bzw. Außerhalb (Ruhe) (&gt;5km)</a:t>
            </a:r>
          </a:p>
          <a:p>
            <a:endParaRPr lang="de-DE" sz="2000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CEA4E4C8-9601-7736-BC0F-A65C3B29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EC5DFB-7DE1-4239-BC0A-20E3C2E06F0B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E17368-C0B4-F0C1-10F7-913CADC9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A883ADD-6F20-253A-C15C-8A03E3BA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47C8337-71B8-033A-0738-394CA2DA490F}"/>
              </a:ext>
            </a:extLst>
          </p:cNvPr>
          <p:cNvSpPr txBox="1"/>
          <p:nvPr/>
        </p:nvSpPr>
        <p:spPr>
          <a:xfrm>
            <a:off x="991215" y="1331914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latin typeface="+mn-lt"/>
              </a:rPr>
              <a:t>ANALYSE GÄSTE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A7684E22-A115-C3F1-94EB-884BA470B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478" y="487445"/>
            <a:ext cx="5623410" cy="165954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EA4790E-269D-6D6C-F35B-E6AAB2808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9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764F6-A374-F6A4-426F-B1B3AA3C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1048E3F-A741-F31D-A6D8-82C6B177C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6F65C7-D7E3-0220-7290-24F7F0396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5457E3-BE5D-15E8-25B3-4A6012F5C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3128CAE-A05A-95F4-1561-897A7CA4D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54D9F437-6A36-F197-FE55-EEEEAABC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99F2C1-90D5-947E-29C9-DC7EF912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3700" dirty="0"/>
            </a:br>
            <a:endParaRPr lang="de-DE" sz="3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EF3A2D-8B7D-929F-BAB9-D7AA19988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1AF0E0-7A52-66C7-B397-6BFD06EC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883" y="3297229"/>
            <a:ext cx="10175182" cy="3258514"/>
          </a:xfrm>
        </p:spPr>
        <p:txBody>
          <a:bodyPr anchor="ctr">
            <a:normAutofit/>
          </a:bodyPr>
          <a:lstStyle/>
          <a:p>
            <a:r>
              <a:rPr lang="de-DE" sz="1600" dirty="0"/>
              <a:t>Geringste Entfernung zum Stadtzentrum=</a:t>
            </a:r>
          </a:p>
          <a:p>
            <a:pPr marL="0" indent="0">
              <a:buNone/>
            </a:pPr>
            <a:r>
              <a:rPr lang="de-DE" sz="1300" dirty="0"/>
              <a:t>Amsterdam(Ap:0,02km), Budapest(Ap:0,03km), London(Privat:0.04km)</a:t>
            </a:r>
          </a:p>
          <a:p>
            <a:r>
              <a:rPr lang="de-DE" sz="1600" dirty="0"/>
              <a:t>Geringste Entfernung zur Metro=</a:t>
            </a:r>
          </a:p>
          <a:p>
            <a:pPr marL="0" indent="0">
              <a:buNone/>
            </a:pPr>
            <a:r>
              <a:rPr lang="de-DE" sz="1300" dirty="0"/>
              <a:t>Paris(Ap:0,00km), Budapest(Ap:0,00km), Lissabon(Ap.:0.01km)</a:t>
            </a:r>
          </a:p>
          <a:p>
            <a:r>
              <a:rPr lang="de-DE" sz="1600" dirty="0"/>
              <a:t>Größte Entfernung zum Stadtzentrum=</a:t>
            </a:r>
          </a:p>
          <a:p>
            <a:pPr marL="0" indent="0">
              <a:buNone/>
            </a:pPr>
            <a:r>
              <a:rPr lang="de-DE" sz="1300" dirty="0"/>
              <a:t>Berlin(Ap:25.28km), Budapest(Ap:19,25km), London(Privat:15,47km)</a:t>
            </a:r>
          </a:p>
          <a:p>
            <a:r>
              <a:rPr lang="de-DE" sz="1600" dirty="0"/>
              <a:t>Größte Entfernung zur Metro=</a:t>
            </a:r>
          </a:p>
          <a:p>
            <a:pPr marL="0" indent="0">
              <a:buNone/>
            </a:pPr>
            <a:r>
              <a:rPr lang="de-DE" sz="1300" dirty="0"/>
              <a:t>Berlin(Ap:14,27km), Budapest(Ap:11,69km), London(Ap.:8,89km)</a:t>
            </a:r>
          </a:p>
          <a:p>
            <a:pPr marL="0" indent="0">
              <a:buNone/>
            </a:pPr>
            <a:endParaRPr lang="de-DE" sz="13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sz="1300" dirty="0">
                <a:sym typeface="Wingdings" panose="05000000000000000000" pitchFamily="2" charset="2"/>
              </a:rPr>
              <a:t></a:t>
            </a:r>
            <a:r>
              <a:rPr lang="de-DE" sz="1400" dirty="0">
                <a:sym typeface="Wingdings" panose="05000000000000000000" pitchFamily="2" charset="2"/>
              </a:rPr>
              <a:t>Korrelation zwischen Restaurantindex und Attr. Index nicht bestätigt!</a:t>
            </a:r>
            <a:endParaRPr lang="de-DE" sz="1400" dirty="0"/>
          </a:p>
          <a:p>
            <a:pPr marL="0" indent="0">
              <a:buNone/>
            </a:pPr>
            <a:endParaRPr lang="de-DE" sz="13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E8DF7A07-0946-7CFA-A4F9-CF819111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EC5DFB-7DE1-4239-BC0A-20E3C2E06F0B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D5BB5D8-416C-CA74-E5C1-9DC48097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16FB1F6-3390-B41B-C92D-EF259F1D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599332-AEE9-10D3-4436-640F859A2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953" y="230524"/>
            <a:ext cx="4984116" cy="296622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FC913CD-2CF0-652C-90AF-F45C0E397062}"/>
              </a:ext>
            </a:extLst>
          </p:cNvPr>
          <p:cNvSpPr txBox="1"/>
          <p:nvPr/>
        </p:nvSpPr>
        <p:spPr>
          <a:xfrm>
            <a:off x="991215" y="1722897"/>
            <a:ext cx="4870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latin typeface="+mn-lt"/>
              </a:rPr>
              <a:t>GEOGRAPHIX</a:t>
            </a: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9927A19-F0AF-3EC2-19F4-18D6D3E32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524" y="3254939"/>
            <a:ext cx="4418973" cy="305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79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CE94B-263D-E5AE-F5A0-5FF4341C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87E32A6-AC03-F63E-3B47-4B6FA2627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36E9E2-27C2-A4AE-ACDF-67C7AFA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914B24-05C3-4ED7-C6B7-002E4D849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78B7C8A-570B-6A09-5FD6-6A81064B4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4F6F4BC-4F2B-A9DD-5B99-3A528A75B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1633DD-1798-11BC-5673-C5BFADF98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B5FDA55-B7A0-700B-6838-E39C9815B232}"/>
              </a:ext>
            </a:extLst>
          </p:cNvPr>
          <p:cNvSpPr txBox="1"/>
          <p:nvPr/>
        </p:nvSpPr>
        <p:spPr>
          <a:xfrm>
            <a:off x="980387" y="2205177"/>
            <a:ext cx="5631739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Kernzone </a:t>
            </a:r>
            <a:r>
              <a:rPr lang="de-DE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BLAU</a:t>
            </a:r>
            <a:r>
              <a:rPr lang="de-DE" sz="1600" dirty="0"/>
              <a:t> (&lt;5 km): sehr hohe Preisspanne zwischen den Ap./Privatzimmern im Vh. zur Zufriedenheit der Gäste sehr gering </a:t>
            </a:r>
            <a:r>
              <a:rPr lang="de-DE" sz="1600" dirty="0">
                <a:sym typeface="Wingdings" panose="05000000000000000000" pitchFamily="2" charset="2"/>
              </a:rPr>
              <a:t></a:t>
            </a:r>
            <a:r>
              <a:rPr lang="de-DE" sz="1600" dirty="0"/>
              <a:t>Potenzial in Privatzimmern: gute Zufriedenheit = moderater Preis </a:t>
            </a:r>
            <a:r>
              <a:rPr lang="de-DE" sz="1600" dirty="0">
                <a:sym typeface="Wingdings" panose="05000000000000000000" pitchFamily="2" charset="2"/>
              </a:rPr>
              <a:t> ggf. Preisanpassung möglich</a:t>
            </a:r>
            <a:endParaRPr lang="en-US" sz="1600" dirty="0"/>
          </a:p>
          <a:p>
            <a:endParaRPr lang="de-D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Randlage </a:t>
            </a:r>
            <a:r>
              <a:rPr lang="de-DE" sz="1600" b="1" dirty="0">
                <a:solidFill>
                  <a:srgbClr val="FF0066"/>
                </a:solidFill>
              </a:rPr>
              <a:t>PINK</a:t>
            </a:r>
            <a:r>
              <a:rPr lang="de-DE" sz="1600" dirty="0"/>
              <a:t> (&gt;5 km):moderate Preise im Vh. zu Zufriedenheit, </a:t>
            </a:r>
            <a:r>
              <a:rPr lang="de-DE" sz="1600" dirty="0" err="1"/>
              <a:t>shared</a:t>
            </a:r>
            <a:r>
              <a:rPr lang="de-DE" sz="1600" dirty="0"/>
              <a:t> </a:t>
            </a:r>
            <a:r>
              <a:rPr lang="de-DE" sz="1600" dirty="0" err="1"/>
              <a:t>rooms</a:t>
            </a:r>
            <a:r>
              <a:rPr lang="de-DE" sz="1600" dirty="0"/>
              <a:t> geringe Zufriedenheit-hoher Preis</a:t>
            </a:r>
            <a:r>
              <a:rPr lang="de-DE" sz="1600" dirty="0">
                <a:sym typeface="Wingdings" panose="05000000000000000000" pitchFamily="2" charset="2"/>
              </a:rPr>
              <a:t> ggf. Preisanpassung möglich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dirty="0">
              <a:sym typeface="Wingdings" panose="05000000000000000000" pitchFamily="2" charset="2"/>
            </a:endParaRP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F6C8D86D-7138-5EE5-FAE0-B9C7DAF2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80A9400-53EB-457C-8C40-1C23FEE4E657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1/15/2026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5D4C5884-E3F2-988E-5BEC-B7444F0E7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by Christin Gärtner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B78DBACB-44A0-BBDA-952F-FBE174EF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1944F1-21CF-4DBE-1D52-10C0255BAD9E}"/>
              </a:ext>
            </a:extLst>
          </p:cNvPr>
          <p:cNvSpPr txBox="1"/>
          <p:nvPr/>
        </p:nvSpPr>
        <p:spPr>
          <a:xfrm>
            <a:off x="991362" y="183584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ANALYSE LONDON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E30B8B-BC1F-997F-FC89-03A21131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101" y="3163956"/>
            <a:ext cx="4135666" cy="300919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9A20531-03C9-DC42-DC56-C70381FC3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868" y="243222"/>
            <a:ext cx="4101711" cy="286254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81036A7-6206-BF0D-CA20-F228A5311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94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B4E90-A75D-B0A3-5AA1-B31020D8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E2F2182-2519-9982-3C66-C908AC1D7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B6ED9-519E-83F1-F3C9-A0F5B5B3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9FAFC8-4668-94A2-B118-C8395E4A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B605FE-0E5A-DEF6-BDC0-16EDAFD82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FFAFBA2-F3F9-D3D2-5305-AD7A18820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09D859-7967-94B5-DE2A-2BAFF6A3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3700" dirty="0"/>
            </a:br>
            <a:r>
              <a:rPr lang="de-DE" sz="1800" b="1" dirty="0">
                <a:latin typeface="+mn-lt"/>
              </a:rPr>
              <a:t>HANDLUNGSEMPFEHLUNGEN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01548-032E-F145-2A7F-27BE350C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010D78-E2C4-D3A5-9FA3-1DBB4F47A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801" y="3117349"/>
            <a:ext cx="10175182" cy="3258514"/>
          </a:xfrm>
        </p:spPr>
        <p:txBody>
          <a:bodyPr anchor="ctr">
            <a:normAutofit/>
          </a:bodyPr>
          <a:lstStyle/>
          <a:p>
            <a:r>
              <a:rPr lang="de-DE" sz="1600" b="1" dirty="0"/>
              <a:t>Strategische Preisgestaltung &amp; Lage </a:t>
            </a:r>
            <a:r>
              <a:rPr lang="de-DE" sz="1600" dirty="0"/>
              <a:t>(basierend auf </a:t>
            </a:r>
            <a:r>
              <a:rPr lang="de-DE" sz="1600" dirty="0" err="1"/>
              <a:t>dist</a:t>
            </a:r>
            <a:r>
              <a:rPr lang="de-DE" sz="1600" dirty="0"/>
              <a:t>, </a:t>
            </a:r>
            <a:r>
              <a:rPr lang="de-DE" sz="1600" dirty="0" err="1"/>
              <a:t>realSum</a:t>
            </a:r>
            <a:r>
              <a:rPr lang="de-DE" sz="1600" dirty="0"/>
              <a:t>) </a:t>
            </a:r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/>
              <a:t>Optimierung der Randzonen (</a:t>
            </a:r>
            <a:r>
              <a:rPr lang="de-DE" sz="1600" dirty="0" err="1"/>
              <a:t>dist</a:t>
            </a:r>
            <a:r>
              <a:rPr lang="de-DE" sz="1600" dirty="0"/>
              <a:t> &gt; 5km)</a:t>
            </a:r>
          </a:p>
          <a:p>
            <a:r>
              <a:rPr lang="de-DE" sz="1600" b="1" dirty="0"/>
              <a:t>Qualitätsmanagement &amp; Host-Entwicklung </a:t>
            </a:r>
            <a:r>
              <a:rPr lang="de-DE" sz="1600" dirty="0"/>
              <a:t>(basierend auf </a:t>
            </a:r>
            <a:r>
              <a:rPr lang="de-DE" sz="1600" dirty="0" err="1"/>
              <a:t>cleanliness_rating</a:t>
            </a:r>
            <a:r>
              <a:rPr lang="de-DE" sz="1600" dirty="0"/>
              <a:t>, </a:t>
            </a:r>
            <a:r>
              <a:rPr lang="de-DE" sz="1600" dirty="0" err="1"/>
              <a:t>guest_satisfaction_overall</a:t>
            </a:r>
            <a:r>
              <a:rPr lang="de-DE" sz="1600" dirty="0"/>
              <a:t>, </a:t>
            </a:r>
            <a:r>
              <a:rPr lang="de-DE" sz="1600" dirty="0" err="1"/>
              <a:t>host_is_superhost</a:t>
            </a:r>
            <a:r>
              <a:rPr lang="de-DE" sz="1600" dirty="0"/>
              <a:t>) </a:t>
            </a:r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/>
              <a:t>Fokus auf die Sauberkeits-Mittelzone (</a:t>
            </a:r>
            <a:r>
              <a:rPr lang="de-DE" sz="1600" dirty="0" err="1"/>
              <a:t>dist</a:t>
            </a:r>
            <a:r>
              <a:rPr lang="de-DE" sz="1600" dirty="0"/>
              <a:t> 3-5km)</a:t>
            </a:r>
          </a:p>
          <a:p>
            <a:r>
              <a:rPr lang="de-DE" sz="1600" b="1" dirty="0"/>
              <a:t>Verstärkte Superhost-Akquise: </a:t>
            </a:r>
            <a:r>
              <a:rPr lang="de-DE" sz="1600" dirty="0"/>
              <a:t>Empfehlung: Ermutigung von noch nicht qualifizierten Multi-Gastgeber</a:t>
            </a:r>
          </a:p>
          <a:p>
            <a:r>
              <a:rPr lang="de-DE" sz="1600" b="1" dirty="0"/>
              <a:t>Marktsegmentierung </a:t>
            </a:r>
            <a:r>
              <a:rPr lang="de-DE" sz="1600" dirty="0"/>
              <a:t>(basierend auf </a:t>
            </a:r>
            <a:r>
              <a:rPr lang="de-DE" sz="1600" dirty="0" err="1"/>
              <a:t>biz</a:t>
            </a:r>
            <a:r>
              <a:rPr lang="de-DE" sz="1600" dirty="0"/>
              <a:t>, </a:t>
            </a:r>
            <a:r>
              <a:rPr lang="de-DE" sz="1600" dirty="0" err="1"/>
              <a:t>room_type</a:t>
            </a:r>
            <a:r>
              <a:rPr lang="de-DE" sz="1600" dirty="0"/>
              <a:t>)</a:t>
            </a:r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/>
              <a:t>Akquise von Business-Angeboten: </a:t>
            </a:r>
            <a:r>
              <a:rPr lang="de-DE" sz="1600" dirty="0" err="1"/>
              <a:t>Shared</a:t>
            </a:r>
            <a:r>
              <a:rPr lang="de-DE" sz="1600" dirty="0"/>
              <a:t> </a:t>
            </a:r>
            <a:r>
              <a:rPr lang="de-DE" sz="1600" dirty="0" err="1"/>
              <a:t>room</a:t>
            </a:r>
            <a:r>
              <a:rPr lang="de-DE" sz="1600" dirty="0"/>
              <a:t> und Private </a:t>
            </a:r>
            <a:r>
              <a:rPr lang="de-DE" sz="1600" dirty="0" err="1"/>
              <a:t>room</a:t>
            </a:r>
            <a:r>
              <a:rPr lang="de-DE" sz="1600" dirty="0"/>
              <a:t> mit Kennzeichnung </a:t>
            </a:r>
            <a:r>
              <a:rPr lang="de-DE" sz="1600" dirty="0" err="1"/>
              <a:t>biz</a:t>
            </a:r>
            <a:r>
              <a:rPr lang="de-DE" sz="1600" dirty="0"/>
              <a:t>=True </a:t>
            </a:r>
            <a:r>
              <a:rPr lang="de-DE" sz="1600" dirty="0">
                <a:sym typeface="Wingdings" panose="05000000000000000000" pitchFamily="2" charset="2"/>
              </a:rPr>
              <a:t></a:t>
            </a:r>
            <a:r>
              <a:rPr lang="de-DE" sz="1600" dirty="0"/>
              <a:t> neues Kundensegment (Checkliste des Inhaltes) + alle Zimmertypen in allen Städten ermöglichen</a:t>
            </a:r>
          </a:p>
          <a:p>
            <a:r>
              <a:rPr lang="de-DE" sz="1600" b="1" dirty="0"/>
              <a:t>Daten- und Systemverbesserungen</a:t>
            </a:r>
            <a:r>
              <a:rPr lang="de-DE" sz="1600" dirty="0">
                <a:sym typeface="Wingdings" panose="05000000000000000000" pitchFamily="2" charset="2"/>
              </a:rPr>
              <a:t> Etab</a:t>
            </a:r>
            <a:r>
              <a:rPr lang="de-DE" sz="1600" dirty="0"/>
              <a:t>lierung eines einheitlichen Qualitäts-Index (</a:t>
            </a:r>
            <a:r>
              <a:rPr lang="de-DE" sz="1600" dirty="0" err="1"/>
              <a:t>cleanliness_rating</a:t>
            </a:r>
            <a:r>
              <a:rPr lang="de-DE" sz="1600" dirty="0"/>
              <a:t> und </a:t>
            </a:r>
            <a:r>
              <a:rPr lang="de-DE" sz="1600" dirty="0" err="1"/>
              <a:t>guest_satisfaction_overall</a:t>
            </a:r>
            <a:r>
              <a:rPr lang="de-DE" sz="1600" dirty="0"/>
              <a:t>) zu = </a:t>
            </a:r>
            <a:r>
              <a:rPr lang="de-DE" sz="1600" b="1" dirty="0" err="1"/>
              <a:t>Airbnb</a:t>
            </a:r>
            <a:r>
              <a:rPr lang="de-DE" sz="1600" b="1" dirty="0"/>
              <a:t>-Qualitäts-Score</a:t>
            </a:r>
          </a:p>
          <a:p>
            <a:r>
              <a:rPr lang="de-DE" sz="1600" b="1" dirty="0"/>
              <a:t>Monitoring und Consulting</a:t>
            </a:r>
            <a:r>
              <a:rPr lang="de-DE" sz="1600" b="1" dirty="0">
                <a:sym typeface="Wingdings" panose="05000000000000000000" pitchFamily="2" charset="2"/>
              </a:rPr>
              <a:t></a:t>
            </a:r>
            <a:r>
              <a:rPr lang="de-DE" sz="1600" dirty="0">
                <a:sym typeface="Wingdings" panose="05000000000000000000" pitchFamily="2" charset="2"/>
              </a:rPr>
              <a:t> von Angeboten, Preisen und Leistungen sowie die Distanzen und Bewertungen, Checkliste für Objekte/Hosts mit Negativbewertung und/oder zu hohen Kosten</a:t>
            </a:r>
            <a:endParaRPr lang="de-DE" sz="16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  <a:p>
            <a:endParaRPr lang="de-DE" sz="1600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58C47EB0-CB05-BDEB-B874-64EA10E6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EC5DFB-7DE1-4239-BC0A-20E3C2E06F0B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620C3E8-9C5B-D95D-8844-22468A89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1CF415D-5BE8-EA7B-1EC7-60BAC699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B360B1-8B79-5BDE-AA15-C45E5816B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9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FC433-20BA-B852-D4A7-DA1B0836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721A5C8-76A0-A7E7-426A-354FB36C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C632FB-B1F1-72CA-4735-183152774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D232A9-5995-181C-66AE-40F1828AD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6D7C69-E0A0-AFD0-7E50-09B9614FE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7D55179-49B6-B674-A365-836FF5025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E8FFA2-7A9C-21BE-6521-484BDEA6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br>
              <a:rPr lang="de-DE" sz="3700" dirty="0"/>
            </a:br>
            <a:endParaRPr lang="de-DE" sz="2000" dirty="0">
              <a:latin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1A7076-A289-A153-E74B-E09F45D5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FE5A74-1834-E3DA-40DE-4E8D7BB00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409" y="1308690"/>
            <a:ext cx="10175182" cy="325851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3000" dirty="0"/>
              <a:t>Vielen Dank für die Aufmerksamkeit! </a:t>
            </a:r>
          </a:p>
          <a:p>
            <a:pPr marL="0" indent="0" algn="ctr">
              <a:buNone/>
            </a:pPr>
            <a:r>
              <a:rPr lang="de-DE" sz="3000" dirty="0"/>
              <a:t>Fragen ?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7DCD2571-11DD-58E8-0E8F-F2698CDC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EC5DFB-7DE1-4239-BC0A-20E3C2E06F0B}" type="datetime1">
              <a:rPr lang="de-DE" smtClean="0"/>
              <a:pPr>
                <a:spcAft>
                  <a:spcPts val="600"/>
                </a:spcAft>
              </a:pPr>
              <a:t>15.01.2026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BB5D7F5-E499-B242-A0C9-3C8106CE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by Christin Gärtner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D66F04B-B610-3207-B8AE-3D647670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B75475-1C90-4A4E-BB8B-417FC81215E5}" type="slidenum">
              <a:rPr lang="de-DE" smtClean="0"/>
              <a:pPr>
                <a:spcAft>
                  <a:spcPts val="600"/>
                </a:spcAft>
              </a:pPr>
              <a:t>15</a:t>
            </a:fld>
            <a:endParaRPr lang="de-DE"/>
          </a:p>
        </p:txBody>
      </p:sp>
      <p:pic>
        <p:nvPicPr>
          <p:cNvPr id="6" name="Grafik 5" descr="Ein Bild, das Cartoon enthält.&#10;&#10;KI-generierte Inhalte können fehlerhaft sein.">
            <a:extLst>
              <a:ext uri="{FF2B5EF4-FFF2-40B4-BE49-F238E27FC236}">
                <a16:creationId xmlns:a16="http://schemas.microsoft.com/office/drawing/2014/main" id="{4A3BA0D3-1031-5969-B1BA-FC7204AD4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93202" y="3429000"/>
            <a:ext cx="2887884" cy="288788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7743846-960E-042E-0320-CCC2D3DEA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20" y="0"/>
            <a:ext cx="1226739" cy="5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Breitbild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</vt:lpstr>
      <vt:lpstr> Analyse eines airbnb Datensatzes:  -tagesaktueller Angebotsreport- </vt:lpstr>
      <vt:lpstr> Gliederung: </vt:lpstr>
      <vt:lpstr>PREISANALYSE AUF ANGEBOTSBASIS </vt:lpstr>
      <vt:lpstr>PowerPoint-Präsentation</vt:lpstr>
      <vt:lpstr>Preisschere zw. Ap./Privatzimmer = Amsterdam, Barcelona, London &gt; Preisabstand                    Rom, Budapest und Athen &lt; Preisabstand </vt:lpstr>
      <vt:lpstr> OBJEKTANALYSE AUF ANGEBOTSBASIS   </vt:lpstr>
      <vt:lpstr> PERSONENANALYSE AUF ANGEBOTSBASIS   </vt:lpstr>
      <vt:lpstr>ANALYSE REISEANLASS </vt:lpstr>
      <vt:lpstr>PowerPoint-Präsentation</vt:lpstr>
      <vt:lpstr>ANALYSE GASTGEBER </vt:lpstr>
      <vt:lpstr> </vt:lpstr>
      <vt:lpstr> </vt:lpstr>
      <vt:lpstr>PowerPoint-Präsentation</vt:lpstr>
      <vt:lpstr> HANDLUNGSEMPFEHLUNGEN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 Gärtner</dc:creator>
  <cp:lastModifiedBy>Christin Gärtner</cp:lastModifiedBy>
  <cp:revision>199</cp:revision>
  <dcterms:created xsi:type="dcterms:W3CDTF">2025-11-25T12:22:17Z</dcterms:created>
  <dcterms:modified xsi:type="dcterms:W3CDTF">2026-01-15T06:43:48Z</dcterms:modified>
</cp:coreProperties>
</file>